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4" r:id="rId7"/>
    <p:sldId id="265" r:id="rId8"/>
    <p:sldId id="262" r:id="rId9"/>
    <p:sldId id="266" r:id="rId10"/>
    <p:sldId id="267" r:id="rId11"/>
    <p:sldId id="260" r:id="rId12"/>
    <p:sldId id="268" r:id="rId13"/>
    <p:sldId id="269" r:id="rId14"/>
    <p:sldId id="270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64" y="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C70BD-1036-4425-BD18-B4B0DA62AEFB}" type="datetimeFigureOut">
              <a:rPr lang="en-MY" smtClean="0"/>
              <a:t>19/12/2025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A19BC-9BC9-4E19-B318-1304676E6F3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05924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C70BD-1036-4425-BD18-B4B0DA62AEFB}" type="datetimeFigureOut">
              <a:rPr lang="en-MY" smtClean="0"/>
              <a:t>19/12/2025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A19BC-9BC9-4E19-B318-1304676E6F3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0698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C70BD-1036-4425-BD18-B4B0DA62AEFB}" type="datetimeFigureOut">
              <a:rPr lang="en-MY" smtClean="0"/>
              <a:t>19/12/2025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A19BC-9BC9-4E19-B318-1304676E6F3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44577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C70BD-1036-4425-BD18-B4B0DA62AEFB}" type="datetimeFigureOut">
              <a:rPr lang="en-MY" smtClean="0"/>
              <a:t>19/12/2025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A19BC-9BC9-4E19-B318-1304676E6F3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51263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C70BD-1036-4425-BD18-B4B0DA62AEFB}" type="datetimeFigureOut">
              <a:rPr lang="en-MY" smtClean="0"/>
              <a:t>19/12/2025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A19BC-9BC9-4E19-B318-1304676E6F3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59559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C70BD-1036-4425-BD18-B4B0DA62AEFB}" type="datetimeFigureOut">
              <a:rPr lang="en-MY" smtClean="0"/>
              <a:t>19/12/2025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A19BC-9BC9-4E19-B318-1304676E6F3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07736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C70BD-1036-4425-BD18-B4B0DA62AEFB}" type="datetimeFigureOut">
              <a:rPr lang="en-MY" smtClean="0"/>
              <a:t>19/12/2025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A19BC-9BC9-4E19-B318-1304676E6F3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40110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C70BD-1036-4425-BD18-B4B0DA62AEFB}" type="datetimeFigureOut">
              <a:rPr lang="en-MY" smtClean="0"/>
              <a:t>19/12/2025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A19BC-9BC9-4E19-B318-1304676E6F3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32773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C70BD-1036-4425-BD18-B4B0DA62AEFB}" type="datetimeFigureOut">
              <a:rPr lang="en-MY" smtClean="0"/>
              <a:t>19/12/2025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A19BC-9BC9-4E19-B318-1304676E6F3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01060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C70BD-1036-4425-BD18-B4B0DA62AEFB}" type="datetimeFigureOut">
              <a:rPr lang="en-MY" smtClean="0"/>
              <a:t>19/12/2025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A19BC-9BC9-4E19-B318-1304676E6F3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76723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C70BD-1036-4425-BD18-B4B0DA62AEFB}" type="datetimeFigureOut">
              <a:rPr lang="en-MY" smtClean="0"/>
              <a:t>19/12/2025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A19BC-9BC9-4E19-B318-1304676E6F3D}" type="slidenum">
              <a:rPr lang="en-MY" smtClean="0"/>
              <a:t>‹#›</a:t>
            </a:fld>
            <a:endParaRPr lang="en-MY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3785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C70BD-1036-4425-BD18-B4B0DA62AEFB}" type="datetimeFigureOut">
              <a:rPr lang="en-MY" smtClean="0"/>
              <a:t>19/12/2025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A19BC-9BC9-4E19-B318-1304676E6F3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95602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C70BD-1036-4425-BD18-B4B0DA62AEFB}" type="datetimeFigureOut">
              <a:rPr lang="en-MY" smtClean="0"/>
              <a:t>19/12/2025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A19BC-9BC9-4E19-B318-1304676E6F3D}" type="slidenum">
              <a:rPr lang="en-MY" smtClean="0"/>
              <a:t>‹#›</a:t>
            </a:fld>
            <a:endParaRPr lang="en-MY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994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C70BD-1036-4425-BD18-B4B0DA62AEFB}" type="datetimeFigureOut">
              <a:rPr lang="en-MY" smtClean="0"/>
              <a:t>19/12/2025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A19BC-9BC9-4E19-B318-1304676E6F3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507615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C70BD-1036-4425-BD18-B4B0DA62AEFB}" type="datetimeFigureOut">
              <a:rPr lang="en-MY" smtClean="0"/>
              <a:t>19/12/2025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A19BC-9BC9-4E19-B318-1304676E6F3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291974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C70BD-1036-4425-BD18-B4B0DA62AEFB}" type="datetimeFigureOut">
              <a:rPr lang="en-MY" smtClean="0"/>
              <a:t>19/12/2025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A19BC-9BC9-4E19-B318-1304676E6F3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38539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C70BD-1036-4425-BD18-B4B0DA62AEFB}" type="datetimeFigureOut">
              <a:rPr lang="en-MY" smtClean="0"/>
              <a:t>19/12/2025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6FA19BC-9BC9-4E19-B318-1304676E6F3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710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5E3D1-DC99-8617-0433-C7ECBD61E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/>
          <a:lstStyle/>
          <a:p>
            <a:r>
              <a:rPr lang="en-US" sz="4800" dirty="0"/>
              <a:t>From CNN-LSTM to VLM: </a:t>
            </a:r>
            <a:br>
              <a:rPr lang="en-US" sz="4800" dirty="0"/>
            </a:br>
            <a:r>
              <a:rPr lang="en-US" sz="4800" dirty="0"/>
              <a:t>A Comparative Analysis on Med-VQA with SLAKE</a:t>
            </a:r>
            <a:endParaRPr lang="en-MY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416BC1-9190-CE8B-5792-C283CCF4B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263887"/>
            <a:ext cx="7766936" cy="883845"/>
          </a:xfrm>
        </p:spPr>
        <p:txBody>
          <a:bodyPr/>
          <a:lstStyle/>
          <a:p>
            <a:pPr algn="ctr"/>
            <a:r>
              <a:rPr lang="en-US" dirty="0"/>
              <a:t>Team: </a:t>
            </a:r>
            <a:r>
              <a:rPr lang="en-US" dirty="0" err="1"/>
              <a:t>jherng</a:t>
            </a:r>
            <a:endParaRPr lang="en-US" dirty="0"/>
          </a:p>
          <a:p>
            <a:pPr algn="ctr"/>
            <a:r>
              <a:rPr lang="en-US" dirty="0"/>
              <a:t>Hong Jia </a:t>
            </a:r>
            <a:r>
              <a:rPr lang="en-US" dirty="0" err="1"/>
              <a:t>Herng</a:t>
            </a:r>
            <a:r>
              <a:rPr lang="en-US" dirty="0"/>
              <a:t> (U2005313)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387560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D9967-234C-49B2-9DE6-F826917BD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FC3E1-7893-A2B4-927B-526F60C6D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Med-VQA</a:t>
            </a:r>
            <a:r>
              <a:rPr lang="en-US" dirty="0"/>
              <a:t> enables models to answer complex, image-grounded questions, providing interactive decision support and clarifying radiological findings.</a:t>
            </a:r>
          </a:p>
          <a:p>
            <a:r>
              <a:rPr lang="en-US" dirty="0"/>
              <a:t>Investigating performance gaps between </a:t>
            </a:r>
            <a:r>
              <a:rPr lang="en-US" b="1" dirty="0"/>
              <a:t>traditional multimodal deep learning</a:t>
            </a:r>
            <a:r>
              <a:rPr lang="en-US" dirty="0"/>
              <a:t> models and </a:t>
            </a:r>
            <a:r>
              <a:rPr lang="en-US" b="1" dirty="0"/>
              <a:t>Large Vision-Language Models (VLMs)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A.K.A. </a:t>
            </a:r>
            <a:r>
              <a:rPr lang="en-US" dirty="0" err="1"/>
              <a:t>MedVQA</a:t>
            </a:r>
            <a:r>
              <a:rPr lang="en-US" dirty="0"/>
              <a:t> as a classification problem vs. text generation problem</a:t>
            </a:r>
          </a:p>
          <a:p>
            <a:r>
              <a:rPr lang="en-US" b="1" dirty="0"/>
              <a:t>Benchmark Dataset:</a:t>
            </a:r>
            <a:r>
              <a:rPr lang="en-US" dirty="0"/>
              <a:t> Evaluation conducted using the </a:t>
            </a:r>
            <a:r>
              <a:rPr lang="en-US" b="1" dirty="0"/>
              <a:t>SLAKE</a:t>
            </a:r>
            <a:r>
              <a:rPr lang="en-US" dirty="0"/>
              <a:t> dataset (Liu et al., 2021).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931160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08495-E069-5732-6B06-D3C9FACB9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7AB0D-782B-D16A-8EB0-C5BB94968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03389"/>
            <a:ext cx="8596668" cy="3880773"/>
          </a:xfrm>
        </p:spPr>
        <p:txBody>
          <a:bodyPr/>
          <a:lstStyle/>
          <a:p>
            <a:pPr lvl="0"/>
            <a:r>
              <a:rPr lang="en-MY" dirty="0"/>
              <a:t>To build and evaluate a classical multimodal baseline using a CNN for image encoding and an LSTM for question encoding.</a:t>
            </a:r>
          </a:p>
          <a:p>
            <a:pPr lvl="0"/>
            <a:r>
              <a:rPr lang="en-MY" dirty="0"/>
              <a:t>To benchmark a modern pretrained Vision–Language Model (BLIP-VQA) on the same dataset.</a:t>
            </a:r>
          </a:p>
          <a:p>
            <a:pPr lvl="0"/>
            <a:r>
              <a:rPr lang="en-MY" dirty="0"/>
              <a:t>To compare the strengths, limitations, and performance of both approaches on the SLAKE Med-VQA dataset.</a:t>
            </a:r>
          </a:p>
          <a:p>
            <a:pPr lvl="0"/>
            <a:r>
              <a:rPr lang="en-MY" dirty="0"/>
              <a:t>To identify which modelling approach is more suitable for medical VQA problems at small data scales.</a:t>
            </a:r>
          </a:p>
          <a:p>
            <a:pPr lvl="0"/>
            <a:endParaRPr lang="en-MY" dirty="0"/>
          </a:p>
          <a:p>
            <a:pPr lvl="0"/>
            <a:r>
              <a:rPr lang="en-MY" dirty="0"/>
              <a:t>Prelim: Partially trained CNN-LSTM vs. Zero-shot BLIP-VQA (Will attempt to finetune BLIP-VQA for final submission)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898832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B91FF-6D18-7E6C-405B-2130453B6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Methods: Dataset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E733A-9CE6-B394-6337-9FCBFB057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r>
              <a:rPr lang="en-MY" dirty="0"/>
              <a:t>SLAKE (Semantically-</a:t>
            </a:r>
            <a:r>
              <a:rPr lang="en-MY" dirty="0" err="1"/>
              <a:t>Labeled</a:t>
            </a:r>
            <a:r>
              <a:rPr lang="en-MY" dirty="0"/>
              <a:t> Knowledge-Enhanced) dataset (Liu et al., 2021)</a:t>
            </a:r>
          </a:p>
          <a:p>
            <a:pPr lvl="1"/>
            <a:r>
              <a:rPr lang="en-MY" dirty="0"/>
              <a:t>Medical images (e.g., CT, MRI, X-ray, etc.)</a:t>
            </a:r>
          </a:p>
          <a:p>
            <a:pPr lvl="1"/>
            <a:r>
              <a:rPr lang="en-MY" dirty="0"/>
              <a:t>Both closed-ended questions (Yes/No, modality type, organ identification)</a:t>
            </a:r>
          </a:p>
          <a:p>
            <a:pPr lvl="1"/>
            <a:r>
              <a:rPr lang="en-MY" dirty="0"/>
              <a:t>And open-ended factual questions (e.g., “What organ is enlarged?”)</a:t>
            </a:r>
          </a:p>
          <a:p>
            <a:pPr lvl="1"/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C0884C-F84A-B9E2-3BEB-8D916B064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906" y="3207233"/>
            <a:ext cx="2996080" cy="33525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A07EF1-B945-A3F2-B526-A77BFFEDC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956" y="3207233"/>
            <a:ext cx="2948088" cy="33525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67194C-0F85-3056-D976-4459153C4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0014" y="3207234"/>
            <a:ext cx="2813395" cy="340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59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19C31-4A7C-7EC2-109A-103838618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51AA1-E427-27F7-7E0A-0AA25A038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Methods: Data Preprocessing</a:t>
            </a:r>
            <a:br>
              <a:rPr lang="en-US" dirty="0"/>
            </a:br>
            <a:r>
              <a:rPr lang="en-US" i="1" dirty="0"/>
              <a:t>Image Preprocessing</a:t>
            </a:r>
            <a:endParaRPr lang="en-MY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A4106-C5B5-9D25-263C-747621EDD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908" y="1930400"/>
            <a:ext cx="8596668" cy="3880773"/>
          </a:xfrm>
        </p:spPr>
        <p:txBody>
          <a:bodyPr/>
          <a:lstStyle/>
          <a:p>
            <a:r>
              <a:rPr lang="en-US" dirty="0"/>
              <a:t>1. Image resize to 224 x 224 (for it to work with ImageNet’s pretrained </a:t>
            </a:r>
            <a:r>
              <a:rPr lang="en-US" dirty="0" err="1"/>
              <a:t>ResNet</a:t>
            </a:r>
            <a:r>
              <a:rPr lang="en-US" dirty="0"/>
              <a:t>)</a:t>
            </a:r>
          </a:p>
          <a:p>
            <a:r>
              <a:rPr lang="en-US" dirty="0"/>
              <a:t>2. Convert to RGB (align with ImageNet’s pretrained </a:t>
            </a:r>
            <a:r>
              <a:rPr lang="en-US" dirty="0" err="1"/>
              <a:t>ResNet</a:t>
            </a:r>
            <a:r>
              <a:rPr lang="en-US" dirty="0"/>
              <a:t>)</a:t>
            </a:r>
          </a:p>
          <a:p>
            <a:r>
              <a:rPr lang="en-US" dirty="0"/>
              <a:t>3. Normalized </a:t>
            </a:r>
            <a:r>
              <a:rPr lang="en-MY" dirty="0"/>
              <a:t>using ImageNet mean (0.485, 0.456, 0.406) and standard deviation (0.229, 0.224, 0.225)</a:t>
            </a:r>
          </a:p>
        </p:txBody>
      </p:sp>
    </p:spTree>
    <p:extLst>
      <p:ext uri="{BB962C8B-B14F-4D97-AF65-F5344CB8AC3E}">
        <p14:creationId xmlns:p14="http://schemas.microsoft.com/office/powerpoint/2010/main" val="74904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FBEEA-C15A-A822-3633-3A61F06D8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2A62A-786F-256A-8C2F-B912BDB51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Methods: Data Preprocessing</a:t>
            </a:r>
            <a:br>
              <a:rPr lang="en-US" dirty="0"/>
            </a:br>
            <a:r>
              <a:rPr lang="en-US" i="1" dirty="0"/>
              <a:t>Question Preprocessing</a:t>
            </a:r>
            <a:endParaRPr lang="en-MY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56CA9-A735-53D3-BD7F-22AADE37A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908" y="1930400"/>
            <a:ext cx="8596668" cy="3880773"/>
          </a:xfrm>
        </p:spPr>
        <p:txBody>
          <a:bodyPr/>
          <a:lstStyle/>
          <a:p>
            <a:r>
              <a:rPr lang="en-US" dirty="0"/>
              <a:t>1. Lowercase</a:t>
            </a:r>
          </a:p>
          <a:p>
            <a:r>
              <a:rPr lang="en-US" dirty="0"/>
              <a:t>2. </a:t>
            </a:r>
            <a:r>
              <a:rPr lang="en-US" dirty="0" err="1"/>
              <a:t>Tokenisation</a:t>
            </a:r>
            <a:r>
              <a:rPr lang="en-US" dirty="0"/>
              <a:t> with NLTK</a:t>
            </a:r>
          </a:p>
          <a:p>
            <a:r>
              <a:rPr lang="en-US" dirty="0"/>
              <a:t>3. Convert each token to a hash value modulo 5000, so they’ll span within 0-4999</a:t>
            </a:r>
          </a:p>
          <a:p>
            <a:r>
              <a:rPr lang="en-US" dirty="0"/>
              <a:t>4. Take the ID (0 – 4999) as input to the word embedding layer</a:t>
            </a:r>
          </a:p>
          <a:p>
            <a:r>
              <a:rPr lang="en-US" dirty="0"/>
              <a:t>5. Word embedding via learnable embedding matrix in the network</a:t>
            </a:r>
          </a:p>
        </p:txBody>
      </p:sp>
    </p:spTree>
    <p:extLst>
      <p:ext uri="{BB962C8B-B14F-4D97-AF65-F5344CB8AC3E}">
        <p14:creationId xmlns:p14="http://schemas.microsoft.com/office/powerpoint/2010/main" val="3533282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E9324-F0AC-1EF7-C054-1270547A8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3761A-9D33-CE51-675F-761C68FB4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Methods: Data Preprocessing</a:t>
            </a:r>
            <a:br>
              <a:rPr lang="en-US" dirty="0"/>
            </a:br>
            <a:r>
              <a:rPr lang="en-US" i="1" dirty="0"/>
              <a:t>Answer Preprocessing</a:t>
            </a:r>
            <a:endParaRPr lang="en-MY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69841-EDF8-78E2-5ADA-FB5B5D55B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908" y="1930400"/>
            <a:ext cx="8596668" cy="3880773"/>
          </a:xfrm>
        </p:spPr>
        <p:txBody>
          <a:bodyPr/>
          <a:lstStyle/>
          <a:p>
            <a:r>
              <a:rPr lang="en-US" dirty="0"/>
              <a:t>1. </a:t>
            </a:r>
            <a:r>
              <a:rPr lang="en-MY" dirty="0"/>
              <a:t>Extract all answers from the training set.</a:t>
            </a:r>
          </a:p>
          <a:p>
            <a:r>
              <a:rPr lang="en-MY" dirty="0"/>
              <a:t>2. Lowercase and normalise text (remove punctuation).</a:t>
            </a:r>
          </a:p>
          <a:p>
            <a:r>
              <a:rPr lang="en-MY" dirty="0"/>
              <a:t>3. Build an answer vocabulary of the top K most frequent answers (e.g., K=222 in our experiment, &lt;UNK&gt; class included).</a:t>
            </a:r>
            <a:endParaRPr lang="en-US" b="1" dirty="0"/>
          </a:p>
          <a:p>
            <a:r>
              <a:rPr lang="en-MY" dirty="0"/>
              <a:t>4. Map all rare answers to an &lt;UNK&gt; token.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76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6EBE6-71FF-0E61-4F2D-6120C43A4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BE51A-7CE4-E284-B2BF-2284703A6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Methods: Model Architectures</a:t>
            </a:r>
            <a:br>
              <a:rPr lang="en-US" dirty="0"/>
            </a:br>
            <a:r>
              <a:rPr lang="en-US" i="1" dirty="0"/>
              <a:t>Baseline: CNN+LSTM</a:t>
            </a:r>
            <a:endParaRPr lang="en-MY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F22CF-FDAA-F0A1-E388-57A7B4CF6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17643"/>
            <a:ext cx="8596668" cy="454218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CNN: ResNet-18 pretrained on ImageNet</a:t>
            </a:r>
          </a:p>
          <a:p>
            <a:pPr lvl="1"/>
            <a:r>
              <a:rPr lang="en-US" dirty="0"/>
              <a:t>To extract global image features</a:t>
            </a:r>
          </a:p>
          <a:p>
            <a:pPr lvl="1"/>
            <a:r>
              <a:rPr lang="en-MY" dirty="0"/>
              <a:t>Producing a 512-D feature vector for each image</a:t>
            </a:r>
          </a:p>
          <a:p>
            <a:r>
              <a:rPr lang="en-MY" dirty="0"/>
              <a:t>Convert question token to embeddings</a:t>
            </a:r>
          </a:p>
          <a:p>
            <a:pPr lvl="1"/>
            <a:r>
              <a:rPr lang="en-MY" dirty="0"/>
              <a:t>A </a:t>
            </a:r>
            <a:r>
              <a:rPr lang="en-MY" b="1" dirty="0"/>
              <a:t>learnable embedding layer</a:t>
            </a:r>
            <a:r>
              <a:rPr lang="en-MY" dirty="0"/>
              <a:t> (Embedding(5000, 300)) that maps discrete tokens into 300-dimensional embeddings.</a:t>
            </a:r>
          </a:p>
          <a:p>
            <a:r>
              <a:rPr lang="en-MY" dirty="0"/>
              <a:t>LSTM</a:t>
            </a:r>
          </a:p>
          <a:p>
            <a:pPr lvl="1"/>
            <a:r>
              <a:rPr lang="en-MY" dirty="0"/>
              <a:t>A </a:t>
            </a:r>
            <a:r>
              <a:rPr lang="en-MY" b="1" dirty="0"/>
              <a:t>single-layer LSTM</a:t>
            </a:r>
            <a:r>
              <a:rPr lang="en-MY" dirty="0"/>
              <a:t> with hidden size 256 that processes the token sequence.</a:t>
            </a:r>
          </a:p>
          <a:p>
            <a:r>
              <a:rPr lang="en-MY" dirty="0"/>
              <a:t>Fusion &amp; Classification</a:t>
            </a:r>
          </a:p>
          <a:p>
            <a:pPr lvl="1"/>
            <a:r>
              <a:rPr lang="en-MY" dirty="0" err="1"/>
              <a:t>Concat</a:t>
            </a:r>
            <a:r>
              <a:rPr lang="en-MY" dirty="0"/>
              <a:t> the results from ResNet-18 and LSTM (512 + 300)</a:t>
            </a:r>
          </a:p>
          <a:p>
            <a:pPr lvl="1"/>
            <a:r>
              <a:rPr lang="en-MY" dirty="0"/>
              <a:t>1-Layer FC to map to 222 classes</a:t>
            </a:r>
          </a:p>
          <a:p>
            <a:r>
              <a:rPr lang="en-MY" dirty="0"/>
              <a:t>Training:</a:t>
            </a:r>
          </a:p>
          <a:p>
            <a:pPr lvl="1"/>
            <a:r>
              <a:rPr lang="en-MY" dirty="0" err="1"/>
              <a:t>CrossEntropyLoss</a:t>
            </a:r>
            <a:endParaRPr lang="en-MY" dirty="0"/>
          </a:p>
          <a:p>
            <a:pPr lvl="1"/>
            <a:r>
              <a:rPr lang="en-MY" dirty="0"/>
              <a:t>13,418,622 trainable parameters</a:t>
            </a:r>
          </a:p>
          <a:p>
            <a:pPr lvl="1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174906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2FFAA-408A-EB9B-2A7F-3CBA95F8B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8E00-D0F0-CF27-8706-FC09D1007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Methods: Model Architectures</a:t>
            </a:r>
            <a:br>
              <a:rPr lang="en-US" dirty="0"/>
            </a:br>
            <a:r>
              <a:rPr lang="en-US" i="1" dirty="0"/>
              <a:t>Baseline: BLIP-VQA</a:t>
            </a:r>
            <a:endParaRPr lang="en-MY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4EF73-B9F8-D566-2A04-866CA53D2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212502"/>
          </a:xfrm>
        </p:spPr>
        <p:txBody>
          <a:bodyPr>
            <a:normAutofit fontScale="92500" lnSpcReduction="10000"/>
          </a:bodyPr>
          <a:lstStyle/>
          <a:p>
            <a:r>
              <a:rPr lang="en-MY" dirty="0"/>
              <a:t>BLIP (Bootstrapping Language Image Pretraining) is a pretrained Vision–Language Model designed for VQA, captioning, and image–text matching. The version that we’re using “blip-</a:t>
            </a:r>
            <a:r>
              <a:rPr lang="en-MY" dirty="0" err="1"/>
              <a:t>vqa</a:t>
            </a:r>
            <a:r>
              <a:rPr lang="en-MY" dirty="0"/>
              <a:t>-base” has a total of 361,230,140 trainable parameters.</a:t>
            </a:r>
          </a:p>
          <a:p>
            <a:r>
              <a:rPr lang="en-MY" dirty="0"/>
              <a:t>BLIP-VQA consists of:</a:t>
            </a:r>
          </a:p>
          <a:p>
            <a:pPr lvl="1"/>
            <a:r>
              <a:rPr lang="en-MY" dirty="0"/>
              <a:t>A </a:t>
            </a:r>
            <a:r>
              <a:rPr lang="en-MY" dirty="0" err="1"/>
              <a:t>ViT</a:t>
            </a:r>
            <a:r>
              <a:rPr lang="en-MY" dirty="0"/>
              <a:t>-based image encoder</a:t>
            </a:r>
          </a:p>
          <a:p>
            <a:pPr lvl="1"/>
            <a:r>
              <a:rPr lang="en-MY" dirty="0"/>
              <a:t>A Transformer-based text encoder</a:t>
            </a:r>
          </a:p>
          <a:p>
            <a:pPr lvl="1"/>
            <a:r>
              <a:rPr lang="en-MY" dirty="0"/>
              <a:t>A multimodal fusion encoder</a:t>
            </a:r>
          </a:p>
          <a:p>
            <a:pPr lvl="1"/>
            <a:r>
              <a:rPr lang="en-MY" dirty="0"/>
              <a:t>A generation-based decoder that produces the answer token by token</a:t>
            </a:r>
          </a:p>
          <a:p>
            <a:r>
              <a:rPr lang="en-MY" dirty="0"/>
              <a:t>Unlike the baseline, BLIP-VQA:</a:t>
            </a:r>
          </a:p>
          <a:p>
            <a:pPr lvl="1"/>
            <a:r>
              <a:rPr lang="en-MY" dirty="0"/>
              <a:t>Is pretrained on 129M image–text pairs (combination of COCOO, VG, CC3M, CC12M, SBU Captions, LAION-400M)</a:t>
            </a:r>
          </a:p>
          <a:p>
            <a:pPr lvl="1"/>
            <a:r>
              <a:rPr lang="en-MY" dirty="0"/>
              <a:t>Has strong zero-shot VQA ability (but not on medical diagnosis)</a:t>
            </a:r>
          </a:p>
          <a:p>
            <a:pPr lvl="1"/>
            <a:r>
              <a:rPr lang="en-MY" dirty="0"/>
              <a:t>Generates answers in natural language form, not from a fixed vocabulary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770654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B9800-116E-30DA-0BFA-1D6C86A44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A18D-6FF8-9340-BEFC-ED97F2162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Methods: Model Architectures</a:t>
            </a:r>
            <a:br>
              <a:rPr lang="en-US" dirty="0"/>
            </a:br>
            <a:r>
              <a:rPr lang="en-US" i="1" dirty="0"/>
              <a:t>Baseline: BLIP-VQA</a:t>
            </a:r>
            <a:endParaRPr lang="en-MY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384F0-A866-11AA-966D-1055C4076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10046084" cy="4212502"/>
          </a:xfrm>
        </p:spPr>
        <p:txBody>
          <a:bodyPr>
            <a:normAutofit/>
          </a:bodyPr>
          <a:lstStyle/>
          <a:p>
            <a:r>
              <a:rPr lang="en-MY" dirty="0"/>
              <a:t>For this round, we map the natural language output of BLIP to our vocab (so fair comparison is possible with CNN+LSTM)</a:t>
            </a:r>
          </a:p>
          <a:p>
            <a:pPr lvl="1"/>
            <a:r>
              <a:rPr lang="en-MY" dirty="0"/>
              <a:t>Take the processed output and compared with the ground truth vocab.</a:t>
            </a:r>
          </a:p>
          <a:p>
            <a:pPr lvl="1"/>
            <a:r>
              <a:rPr lang="en-MY" dirty="0"/>
              <a:t>Calculate accuracy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613516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14DE-4D74-FCEB-E257-46D1582B7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843" y="169112"/>
            <a:ext cx="8596668" cy="1320800"/>
          </a:xfrm>
        </p:spPr>
        <p:txBody>
          <a:bodyPr/>
          <a:lstStyle/>
          <a:p>
            <a:r>
              <a:rPr lang="en-US" dirty="0"/>
              <a:t>Preliminary Results - Baseline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DB74F-6BCD-06D1-4CF6-EF8F145CB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843" y="943668"/>
            <a:ext cx="4679757" cy="3880773"/>
          </a:xfrm>
        </p:spPr>
        <p:txBody>
          <a:bodyPr/>
          <a:lstStyle/>
          <a:p>
            <a:r>
              <a:rPr lang="en-US" dirty="0"/>
              <a:t>We trained the baseline for 5 epochs</a:t>
            </a:r>
          </a:p>
          <a:p>
            <a:r>
              <a:rPr lang="en-US" dirty="0"/>
              <a:t>Test accuracy: </a:t>
            </a:r>
          </a:p>
          <a:p>
            <a:pPr lvl="1"/>
            <a:r>
              <a:rPr lang="en-US" dirty="0"/>
              <a:t>OVERALL: 64.10%</a:t>
            </a:r>
          </a:p>
          <a:p>
            <a:pPr lvl="1"/>
            <a:r>
              <a:rPr lang="en-MY" dirty="0"/>
              <a:t>OPEN: 69.73%</a:t>
            </a:r>
          </a:p>
          <a:p>
            <a:pPr lvl="1"/>
            <a:r>
              <a:rPr lang="en-MY" dirty="0"/>
              <a:t>CLOSED: 55.69%</a:t>
            </a:r>
          </a:p>
          <a:p>
            <a:pPr lvl="1"/>
            <a:endParaRPr lang="en-US" dirty="0"/>
          </a:p>
          <a:p>
            <a:pPr lvl="1"/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F01191-0BCB-2FC3-2C72-48BC2855F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202" y="169112"/>
            <a:ext cx="3637952" cy="29193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FA6219-3451-8A5B-ADD6-B9D330D40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870" y="3215203"/>
            <a:ext cx="4359284" cy="347368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D958975-6BB1-B3D9-E6F3-C10A8943DA4F}"/>
              </a:ext>
            </a:extLst>
          </p:cNvPr>
          <p:cNvSpPr txBox="1">
            <a:spLocks/>
          </p:cNvSpPr>
          <p:nvPr/>
        </p:nvSpPr>
        <p:spPr>
          <a:xfrm>
            <a:off x="501842" y="3352338"/>
            <a:ext cx="4679757" cy="2611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Interpretation: </a:t>
            </a:r>
          </a:p>
          <a:p>
            <a:pPr lvl="1"/>
            <a:r>
              <a:rPr lang="en-US" dirty="0"/>
              <a:t>For closed question, slightly better than random guess (50%), the model is learning</a:t>
            </a:r>
          </a:p>
          <a:p>
            <a:pPr lvl="1"/>
            <a:r>
              <a:rPr lang="en-US" dirty="0"/>
              <a:t>For open question, higher accuracy probably due to mapping to &lt;UNK&gt; token</a:t>
            </a:r>
            <a:endParaRPr lang="en-MY" dirty="0"/>
          </a:p>
          <a:p>
            <a:pPr lvl="1"/>
            <a:endParaRPr lang="en-US" dirty="0"/>
          </a:p>
          <a:p>
            <a:pPr lvl="1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566757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D6BFB-419A-E0B8-7AE0-B13B5B7A3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33194-A8A7-3172-10DC-665F12416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843" y="169112"/>
            <a:ext cx="8596668" cy="1320800"/>
          </a:xfrm>
        </p:spPr>
        <p:txBody>
          <a:bodyPr/>
          <a:lstStyle/>
          <a:p>
            <a:r>
              <a:rPr lang="en-US" dirty="0"/>
              <a:t>Preliminary Results – Zero-shot BLIP-VQA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CA301-C577-1D38-EFAA-10CD987D5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843" y="943668"/>
            <a:ext cx="4679757" cy="3880773"/>
          </a:xfrm>
        </p:spPr>
        <p:txBody>
          <a:bodyPr/>
          <a:lstStyle/>
          <a:p>
            <a:r>
              <a:rPr lang="en-US" dirty="0"/>
              <a:t>No training</a:t>
            </a:r>
          </a:p>
          <a:p>
            <a:r>
              <a:rPr lang="en-US" dirty="0"/>
              <a:t>Test accuracy: </a:t>
            </a:r>
          </a:p>
          <a:p>
            <a:pPr lvl="1"/>
            <a:r>
              <a:rPr lang="en-MY" dirty="0"/>
              <a:t>OPEN: 8.08%</a:t>
            </a:r>
          </a:p>
          <a:p>
            <a:pPr lvl="1"/>
            <a:r>
              <a:rPr lang="en-MY" dirty="0"/>
              <a:t>CLOSED: 51.66%</a:t>
            </a:r>
          </a:p>
          <a:p>
            <a:pPr lvl="1"/>
            <a:r>
              <a:rPr lang="en-MY" dirty="0"/>
              <a:t>OVERALL: 25.55%</a:t>
            </a:r>
          </a:p>
          <a:p>
            <a:pPr lvl="1"/>
            <a:endParaRPr lang="en-US" dirty="0"/>
          </a:p>
          <a:p>
            <a:pPr lvl="1"/>
            <a:endParaRPr lang="en-MY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18166C9-88AF-B17D-6725-4801E75E0407}"/>
              </a:ext>
            </a:extLst>
          </p:cNvPr>
          <p:cNvSpPr txBox="1">
            <a:spLocks/>
          </p:cNvSpPr>
          <p:nvPr/>
        </p:nvSpPr>
        <p:spPr>
          <a:xfrm>
            <a:off x="501842" y="3352338"/>
            <a:ext cx="4679757" cy="26110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Interpretation: </a:t>
            </a:r>
          </a:p>
          <a:p>
            <a:pPr lvl="1"/>
            <a:r>
              <a:rPr lang="en-US" dirty="0"/>
              <a:t>For closed question, BLIP is probably doing random guess (more training needed)</a:t>
            </a:r>
          </a:p>
          <a:p>
            <a:pPr lvl="1"/>
            <a:r>
              <a:rPr lang="en-US" dirty="0"/>
              <a:t>For open question, low accuracy is fair, as the BLIP is not pretrained on medical data</a:t>
            </a:r>
          </a:p>
          <a:p>
            <a:pPr lvl="1"/>
            <a:r>
              <a:rPr lang="en-US" dirty="0"/>
              <a:t>Finetuning needed (or find another Medical data pretrained BLIP)</a:t>
            </a:r>
            <a:endParaRPr lang="en-MY" dirty="0"/>
          </a:p>
          <a:p>
            <a:pPr lvl="1"/>
            <a:endParaRPr lang="en-US" dirty="0"/>
          </a:p>
          <a:p>
            <a:pPr lvl="1"/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C068E9-CD8C-BDB9-2C1E-3DDC88FFA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357" y="1489912"/>
            <a:ext cx="54387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013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79D05-AE4E-475F-AE69-54B089F6F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E7F8C-799E-9417-EE34-FCF56517A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843" y="169112"/>
            <a:ext cx="8596668" cy="1320800"/>
          </a:xfrm>
        </p:spPr>
        <p:txBody>
          <a:bodyPr/>
          <a:lstStyle/>
          <a:p>
            <a:r>
              <a:rPr lang="en-US" dirty="0"/>
              <a:t>Preliminary Results – Side-by-side Comparison</a:t>
            </a:r>
            <a:endParaRPr lang="en-MY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029FDDB-0A50-22E7-81FE-DB91DE8487DA}"/>
              </a:ext>
            </a:extLst>
          </p:cNvPr>
          <p:cNvSpPr txBox="1">
            <a:spLocks/>
          </p:cNvSpPr>
          <p:nvPr/>
        </p:nvSpPr>
        <p:spPr>
          <a:xfrm>
            <a:off x="834351" y="5873865"/>
            <a:ext cx="8900776" cy="815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Baseline works better now (as expected) with a bit of training.</a:t>
            </a:r>
          </a:p>
          <a:p>
            <a:r>
              <a:rPr lang="en-US" dirty="0"/>
              <a:t>Zero-shot BLIP doesn’t work well (fine-tuning needed)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01EF12-AF4A-A2DA-8BB2-ABD9054E4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351" y="1327886"/>
            <a:ext cx="54387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403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429C1-6F73-F19E-CAD6-C144DBEAD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B73C1-2003-CA1C-2F63-2AA93E2FA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843" y="169112"/>
            <a:ext cx="8596668" cy="1320800"/>
          </a:xfrm>
        </p:spPr>
        <p:txBody>
          <a:bodyPr/>
          <a:lstStyle/>
          <a:p>
            <a:r>
              <a:rPr lang="en-US" dirty="0"/>
              <a:t>Preliminary Results – Inspect the Samples</a:t>
            </a:r>
            <a:endParaRPr lang="en-MY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353E64-2EFF-9D7A-5258-C5E702F6A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077" y="1654318"/>
            <a:ext cx="3848100" cy="46577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4CD0FB-962C-6489-EAE9-90FAEA608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532" y="1735280"/>
            <a:ext cx="3848100" cy="44958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39B3A64-36CA-6A6C-8387-F3303056E363}"/>
              </a:ext>
            </a:extLst>
          </p:cNvPr>
          <p:cNvSpPr txBox="1">
            <a:spLocks/>
          </p:cNvSpPr>
          <p:nvPr/>
        </p:nvSpPr>
        <p:spPr>
          <a:xfrm>
            <a:off x="1046787" y="6312043"/>
            <a:ext cx="2656994" cy="815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Result of CNN+LSTM</a:t>
            </a:r>
            <a:endParaRPr lang="en-MY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4488E5-6FEE-65EB-984C-C4AB110121FF}"/>
              </a:ext>
            </a:extLst>
          </p:cNvPr>
          <p:cNvSpPr txBox="1">
            <a:spLocks/>
          </p:cNvSpPr>
          <p:nvPr/>
        </p:nvSpPr>
        <p:spPr>
          <a:xfrm>
            <a:off x="6656532" y="6312042"/>
            <a:ext cx="2656994" cy="815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Result of BLIP-VQA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460318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BD3F8-31C6-98C6-2399-F68C5FF87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725" y="2768600"/>
            <a:ext cx="8596668" cy="1320800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24978994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</TotalTime>
  <Words>878</Words>
  <Application>Microsoft Office PowerPoint</Application>
  <PresentationFormat>Widescreen</PresentationFormat>
  <Paragraphs>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</vt:lpstr>
      <vt:lpstr>From CNN-LSTM to VLM:  A Comparative Analysis on Med-VQA with SLAKE</vt:lpstr>
      <vt:lpstr>Background</vt:lpstr>
      <vt:lpstr>Objectives</vt:lpstr>
      <vt:lpstr>Methods: Dataset</vt:lpstr>
      <vt:lpstr>Methods: Data Preprocessing Image Preprocessing</vt:lpstr>
      <vt:lpstr>Methods: Data Preprocessing Question Preprocessing</vt:lpstr>
      <vt:lpstr>Methods: Data Preprocessing Answer Preprocessing</vt:lpstr>
      <vt:lpstr>Methods: Model Architectures Baseline: CNN+LSTM</vt:lpstr>
      <vt:lpstr>Methods: Model Architectures Baseline: BLIP-VQA</vt:lpstr>
      <vt:lpstr>Methods: Model Architectures Baseline: BLIP-VQA</vt:lpstr>
      <vt:lpstr>Preliminary Results - Baseline</vt:lpstr>
      <vt:lpstr>Preliminary Results – Zero-shot BLIP-VQA</vt:lpstr>
      <vt:lpstr>Preliminary Results – Side-by-side Comparison</vt:lpstr>
      <vt:lpstr>Preliminary Results – Inspect the Samples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 Herng Hong</dc:creator>
  <cp:lastModifiedBy>Jia Herng Hong</cp:lastModifiedBy>
  <cp:revision>9</cp:revision>
  <dcterms:created xsi:type="dcterms:W3CDTF">2025-12-19T10:54:30Z</dcterms:created>
  <dcterms:modified xsi:type="dcterms:W3CDTF">2025-12-19T11:41:45Z</dcterms:modified>
</cp:coreProperties>
</file>